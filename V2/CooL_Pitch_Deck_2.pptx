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uv Shrinaath S" userId="5cd4d0ec2063640d" providerId="LiveId" clId="{B7F61B99-ABE7-4ED7-9F1B-6FF42CAF49EA}"/>
    <pc:docChg chg="modSld">
      <pc:chgData name="Pranauv Shrinaath S" userId="5cd4d0ec2063640d" providerId="LiveId" clId="{B7F61B99-ABE7-4ED7-9F1B-6FF42CAF49EA}" dt="2026-06-23T15:46:15.154" v="1" actId="20577"/>
      <pc:docMkLst>
        <pc:docMk/>
      </pc:docMkLst>
      <pc:sldChg chg="modSp mod">
        <pc:chgData name="Pranauv Shrinaath S" userId="5cd4d0ec2063640d" providerId="LiveId" clId="{B7F61B99-ABE7-4ED7-9F1B-6FF42CAF49EA}" dt="2026-06-23T15:46:15.154" v="1" actId="20577"/>
        <pc:sldMkLst>
          <pc:docMk/>
          <pc:sldMk cId="0" sldId="256"/>
        </pc:sldMkLst>
        <pc:spChg chg="mod">
          <ac:chgData name="Pranauv Shrinaath S" userId="5cd4d0ec2063640d" providerId="LiveId" clId="{B7F61B99-ABE7-4ED7-9F1B-6FF42CAF49EA}" dt="2026-06-23T15:46:15.154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$B</c:v>
                </c:pt>
              </c:strCache>
            </c:strRef>
          </c:tx>
          <c:spPr>
            <a:solidFill>
              <a:srgbClr val="B3331F"/>
            </a:solidFill>
            <a:effectLst/>
          </c:spPr>
          <c:invertIfNegative val="0"/>
          <c:dLbls>
            <c:numFmt formatCode="\$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110D"/>
                    </a:solidFill>
                    <a:latin typeface="Courier Ne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</c:v>
                </c:pt>
                <c:pt idx="1">
                  <c:v>7.2</c:v>
                </c:pt>
                <c:pt idx="2">
                  <c:v>9.4</c:v>
                </c:pt>
                <c:pt idx="3">
                  <c:v>12.2</c:v>
                </c:pt>
                <c:pt idx="4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42-45D4-98A1-957D21EBC2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23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3EFE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EFE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62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line: when a regulator, a court, or a customer asks an AI company to prove what its system did, today nobody can. CooL is the artefact that answers. Pre-seed ask 1 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 ·  INDIA  ·  2026  ·  CONFIDENTIAL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>
                <a:solidFill>
                  <a:srgbClr val="F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black </a:t>
            </a:r>
            <a:r>
              <a:rPr lang="en-US" sz="6600" b="1" dirty="0">
                <a:solidFill>
                  <a:srgbClr val="F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for AI.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E0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r>
              <a:rPr lang="en-US" sz="160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Cryptographic Observability and On-chain Ledger.  A durable, independent, hardware-backed cryptographic record of exactly what an AI system computed — which model, on which input, producing which output, and when.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897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Cipher Pvt Ltd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Pranauv Shrinaath S — Founder &amp; CEO   ·   Kailosh Kalimuthu — Co-founder &amp; 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52560" y="5852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0" y="6053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07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 Crore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AI decides and someone is harmed, no one can prove what it actually did.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4982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252374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makes legally consequential decisions.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035808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diagnoses, arrests, insurance claims, hiring — a model decides, a person is affected, and the law assumes that decision can be accounted for.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056" y="2286000"/>
            <a:ext cx="544982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91656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14616" y="252374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answer is “the model decided.”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14616" y="3035808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ran, which factor was decisive, what it actually output — the reasoning is gone the moment the query ends.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544982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447141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that exists is worthless.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98348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sits on servers owned by the bank, hospital, insurer or police — editable by the party with the most reason to edit it after a complaint lands.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056" y="4233672"/>
            <a:ext cx="544982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14616" y="447141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nothing can be proven.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14616" y="4983480"/>
            <a:ext cx="4169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court or regulator can establish which model, fed which input, produced which output, at which moment — in a form the operator couldn’t have quietly rewritten.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i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stack fixes this.  </a:t>
            </a:r>
            <a:r>
              <a:rPr lang="en-US" sz="135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neutral, tamper-proof record of what a model did is simply absent — that gap is what CooL is built to fill.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 is the black box for AI.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durable, independent, hardware-backed cryptographic record of exactly what an AI computed — which model ran, on which input, producing which output, and when — sealed so that not even the company operating the AI could have forged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6583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794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regulator, a court, or a customer asks an AI company to prove what its system actually did — </a:t>
            </a:r>
            <a:r>
              <a:rPr lang="en-US" sz="1800" b="1" i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 is the artefact that answers.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 </a:t>
            </a:r>
            <a:r>
              <a:rPr lang="en-US" sz="130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changed line of 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5623560"/>
            <a:ext cx="6583680" cy="457200"/>
          </a:xfrm>
          <a:prstGeom prst="rect">
            <a:avLst/>
          </a:prstGeom>
          <a:solidFill>
            <a:srgbClr val="EAE3D5"/>
          </a:solidFill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cool.complete(prompt)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3931920" cy="4251960"/>
          </a:xfrm>
          <a:prstGeom prst="roundRect">
            <a:avLst>
              <a:gd name="adj" fmla="val 1395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SEALED RECORD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ran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3063240"/>
            <a:ext cx="3291840" cy="0"/>
          </a:xfrm>
          <a:prstGeom prst="line">
            <a:avLst/>
          </a:prstGeom>
          <a:noFill/>
          <a:ln w="9525">
            <a:solidFill>
              <a:srgbClr val="3A3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0" y="3172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which input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3721608"/>
            <a:ext cx="3291840" cy="0"/>
          </a:xfrm>
          <a:prstGeom prst="line">
            <a:avLst/>
          </a:prstGeom>
          <a:noFill/>
          <a:ln w="9525">
            <a:solidFill>
              <a:srgbClr val="3A3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0" y="3831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which output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4379976"/>
            <a:ext cx="3291840" cy="0"/>
          </a:xfrm>
          <a:prstGeom prst="line">
            <a:avLst/>
          </a:prstGeom>
          <a:noFill/>
          <a:ln w="9525">
            <a:solidFill>
              <a:srgbClr val="3A33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4897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0" y="4489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 which exact moment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0100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9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Hardware-sealed. Operator-resistant. Verifiable by anyone, offline.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&amp;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hardware-rooted record, built to stand as evidence for decades.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21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attestation of inference.  </a:t>
            </a:r>
            <a:r>
              <a:rPr lang="en-US" sz="135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inside a confidential-compute enclave — NVIDIA Confidential Compute or Intel TDX — that emits a hardware-signed quote binding model, input, output and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PQC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Post-quantum cryptography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ML-KEM-1024 &amp; ML-DSA-65 — the proof survives as evidence for decades.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Witnessed Merkle transparency log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62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structure behind Certificate Transparency and Sigstore — the working ledger.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246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ANCHOR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Once-per-epoch on-chain anchor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log’s signed root anchored to a public chain — not even CooL can rewrite history.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8CE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 ·  the moat is not a patent.  </a:t>
            </a:r>
            <a:r>
              <a:rPr lang="en-US" sz="13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witnessed, compliance-mapped evidentiary record, prospective India sovereign standing (CERT-In / STQC empanelment), and a rare applied-PQC credential — the founder’s </a:t>
            </a:r>
            <a:r>
              <a:rPr lang="en-US" sz="1350" b="1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ipsec-pqc-ikev2</a:t>
            </a:r>
            <a:r>
              <a:rPr lang="en-US" sz="13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 of ~200 ML-KEM projects worldwide. Capital cannot shortcut a witnessed record or a regulator’s trust.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 ·  v0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cryptography already runs.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NOW  —  REAL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ML-DSA-65 (FIPS 204) signatures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6962 Merkle transparency log + inclusion proofs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InferenceRecord, SHA-256 commitments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verifyReceipt() — full chain checked offline, without us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cool.complete(prompt) — OpenAI-compatible drop-in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MOCKED  —  STATED HONESTLY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697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attestation quote — labelled MockAttestor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anchor — local FileAnchor (writes locally)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3931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hide what’s stubbed. </a:t>
            </a:r>
            <a:r>
              <a:rPr lang="en-US" sz="130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milestone of this round turns the mock into a real NVIDIA CC / Intel TDX attestor — the rest of the chain is already built around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working TypeScript SDK (Node 22, no build step) — cool-v0.zip with a verifiable receipt you can check yourself.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Legislated into existence — growing 30–40% a year.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2423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E07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$15.8B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AI-governance software by 2030 (Forrester) — 7% of all AI software spend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44568" y="2423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$3–5B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audit / evidentiary slice: BFSI · health · government · legal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93608" y="2423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B3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$15–40M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CooL’s India-first capture over 3–5 years via open-core conversion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AI-GOVERNANCE SOFTWARE SPEND  ·  $B  ·  TRAJECTORY TO FORRESTER 2030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4160520"/>
          <a:ext cx="66751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7498080" y="3886200"/>
            <a:ext cx="41148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TAILWIND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18120" y="4389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audit-trail duties in force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 + RBI model-governance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/ STQC — sovereign procurement gate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sectoral: HIPAA-AI, FINRA model rules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AI regulation quadruples by 2030, reaching 75% of world economies.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range: $1B (Gartner, platforms) – $15.8B (Forrester, governance software) by 2030.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Open-core. Open the format, monetise the compliance.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 —  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receipt format, the verifier, the SDK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issue and verify a CooL receipt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adoption, trust and neutrality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default standard developers reach for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Sigstore / Chainguard playbook.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 —  RECURRING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work around the record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31089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transparency log + witness / timestamp service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 — RBI · DPDP · HIPAA · EU AI Act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Empanelment-backed enterprise SLAs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/ on-prem deployments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Per-receipt + per-seat + enterprise licence.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i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compounds:  </a:t>
            </a:r>
            <a:r>
              <a:rPr lang="en-US" sz="135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format earns the trust and adoption; the regulated record and the compliance obligations are what enterprises pay for, every year.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players exist. None produce an operator-resistant record of inference.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3EF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1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3EF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APPROACH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1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3EFE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GAP vs CooL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AI (Casper Labs)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audit trail for 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Anchors data — not hardware-attested inference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zkML (EZKL et al.)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computation in zero-knowledge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Costly; no hardware identity or operator-resistance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Hyperscaler confidential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(Apple PCC · AWS · Azure)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confidential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Vendor-captive — not independent, third-party verifiable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 inference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(Phala · Chutes / Bittensor)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Decentralised attested-inference substrate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for network operators — not a compliance evidentiary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AI-governance / GRC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(Credo AI, etc.)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Policy, monitoring,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A4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— not cryptographic, operator-resistant proof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333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CooL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A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Hardware-attested + witnessed + post-quantum + on-chain anchored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A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B3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neutral evidentiary record built for regulated enterprise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  · 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on open-source trust. Expand into compliance contracts.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Pre-launch. This is the planned pipeline — not booked traction.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35680" cy="3566160"/>
          </a:xfrm>
          <a:prstGeom prst="roundRect">
            <a:avLst>
              <a:gd name="adj" fmla="val 1552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 months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credibility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89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 launch → developer adoption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real TEE attestation demo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Warm-intro outreach to 3–5 design partners in RBI-regulated fintech &amp; health-tech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2920" y="2286000"/>
            <a:ext cx="3535680" cy="3566160"/>
          </a:xfrm>
          <a:prstGeom prst="roundRect">
            <a:avLst>
              <a:gd name="adj" fmla="val 1552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7240" y="25146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7240" y="283464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6–18 months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7240" y="31546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willingness to pay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2960" y="3703320"/>
            <a:ext cx="289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paid design partners → reference deployments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/ ISO 27001 groundwork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on demonstrated demand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7200" y="2286000"/>
            <a:ext cx="3535680" cy="3566160"/>
          </a:xfrm>
          <a:prstGeom prst="roundRect">
            <a:avLst>
              <a:gd name="adj" fmla="val 1552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1520" y="25146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1520" y="283464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18–36 months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51520" y="315468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go sovereign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7240" y="3703320"/>
            <a:ext cx="289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contracts: BFSI · health · legal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&amp; government (IndiaAI)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EU &amp; Middle-East markets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open-core adoption pulls developers in; compliance pain converts them to paid; empanelment and neutrality lock in the enterprise.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rare intersection: applied post-quantum cryptography and TEE inference.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  ·  CHENNAI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Pranauv Shrinaath 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&amp; blockchain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ipsec-pqc-ikev2 — one of ~200 global ML-KEM projects (maps ML-KEM into IKEv2)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decentralising public banks, secured with PQC + Hyperledger Fabric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research internship, NUS Singapore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building (since 14)  ·  github.com/KenidoesCode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CO-FOUNDER &amp; CTO  ·  BANGALORE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542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Kailosh Kalimuthu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execution environments &amp; AI inference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4747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BIFROST — decentralised P2P comms / storage / compute network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Repurposes idle hardware into an encrypted, distributed micro-cloud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with US startup Decipher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building (since 16)  ·  github.com/Sk1zmo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E3D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FUNDED BY THIS ROUND   </a:t>
            </a:r>
            <a:r>
              <a:rPr lang="en-US" sz="140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Rust Engineer   ·   IITM PhD researcher as cryptography advisor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&amp; USE OF FUNDS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611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₹1 Crore buys in 12 months.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ROADMAP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18982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CE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TEE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CE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11526" y="201168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4406" y="20116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5846" y="2011680"/>
            <a:ext cx="18982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+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3161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57293" y="201168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40173" y="20116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31613" y="2011680"/>
            <a:ext cx="18982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L2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03059" y="201168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85939" y="20116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7379" y="2011680"/>
            <a:ext cx="18982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channel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48826" y="201168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31706" y="2011680"/>
            <a:ext cx="208117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23146" y="2011680"/>
            <a:ext cx="18982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971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SISFS / TANSEED filings  ·  founders’ agreement  ·  design-partner pipeline  ·  CERT-In / ISO groundwork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  ·  12-MONTH RUNWAY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75888"/>
          <a:ext cx="5394960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runway (12 months)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₹20L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₹25L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discovery · travel · conferences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₹10L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· TEE · infra · rented 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₹6L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/ X ghostwriter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₹6L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crypto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₹4L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PhD crypto advisor (IITM)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₹3L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675888"/>
          <a:ext cx="5394960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STQC empanelment &amp;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₹2.5L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CERT-In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₹8.5L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11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/ contingency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3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₹10L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59893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6110D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68680" y="5989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ROUND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89520" y="5989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07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₹1,00,00,000  =  ₹1 Crore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33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000" dirty="0">
                <a:solidFill>
                  <a:srgbClr val="8A8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&amp; 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 Crore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equity  ·  iSAFE  ·  ₹10 Cr post-money cap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  ·  NorthWind Cipher Pvt Ltd (incorporated)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F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 becomes the default, neutral evidentiary standard for regulated AI — the black box every AI system answers to.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Self-attestation always gives way to cryptographic evidence — Certificate Transparency, Sigstore, RFC 3161. CooL brings that one-way migration to 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pranauvkeni@gmail.com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EB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RETURN — 10% AT ₹10 Cr POST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1732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9A91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STAGE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9A91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POST-MONEY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9A91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STAKE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9A91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MULTIPLE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EF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· Yr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₹10 Cr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i="1" dirty="0">
                          <a:solidFill>
                            <a:srgbClr val="E079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1×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EF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· Yr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~₹85 Cr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8.2%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i="1" dirty="0">
                          <a:solidFill>
                            <a:srgbClr val="E079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~7×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EF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 · Yr 2–3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~₹340 Cr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6.6%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i="1" dirty="0">
                          <a:solidFill>
                            <a:srgbClr val="E079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~22×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EF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 · Yr 4–5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~₹1,000 Cr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5.4%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i="1" dirty="0">
                          <a:solidFill>
                            <a:srgbClr val="E079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~54×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EF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· Yr 7–8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₹3–5k Cr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9C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4.4%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i="1" dirty="0">
                          <a:solidFill>
                            <a:srgbClr val="E079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~130–220×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2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76656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outcome is zero. Roughly 65% return nothing · 30% a modest 0.5–5× · 5% the breakout above. Figures are paper, dilution-adjusted, unrealised until an exit event.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553212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211B15"/>
          </a:solidFill>
          <a:ln w="12700">
            <a:solidFill>
              <a:srgbClr val="D8D0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55321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F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you to fund a company. </a:t>
            </a:r>
            <a:r>
              <a:rPr lang="en-US" sz="1200" i="1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asking you to fund the evidentiary standard the next decade of regulated AI will run on.</a:t>
            </a:r>
            <a:endParaRPr lang="en-US" sz="1200" dirty="0"/>
          </a:p>
        </p:txBody>
      </p:sp>
      <p:sp>
        <p:nvSpPr>
          <p:cNvPr id="9" name="Text 10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79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000" dirty="0">
                <a:solidFill>
                  <a:srgbClr val="6E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1819</Words>
  <Application>Microsoft Office PowerPoint</Application>
  <PresentationFormat>Widescreen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 — Pre-seed Investor Deck</dc:title>
  <dc:subject>PptxGenJS Presentation</dc:subject>
  <dc:creator>NorthWind Cipher Pvt Ltd</dc:creator>
  <cp:lastModifiedBy>Pranauv Shrinaath S</cp:lastModifiedBy>
  <cp:revision>1</cp:revision>
  <dcterms:created xsi:type="dcterms:W3CDTF">2026-06-22T15:39:48Z</dcterms:created>
  <dcterms:modified xsi:type="dcterms:W3CDTF">2026-06-23T15:46:20Z</dcterms:modified>
</cp:coreProperties>
</file>